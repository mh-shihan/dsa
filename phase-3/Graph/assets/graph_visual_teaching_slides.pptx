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2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Components of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b="1" dirty="0"/>
              <a:t>Vertex (Node): </a:t>
            </a:r>
            <a:r>
              <a:rPr dirty="0"/>
              <a:t>represents an object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b="1" dirty="0"/>
              <a:t>Edge: </a:t>
            </a:r>
            <a:r>
              <a:rPr dirty="0"/>
              <a:t>connection between two nodes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b="1" dirty="0"/>
              <a:t>Example: </a:t>
            </a:r>
            <a:r>
              <a:rPr dirty="0"/>
              <a:t>Cities connected by roads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A077EE4-A4C5-0B77-5814-C532EC138741}"/>
              </a:ext>
            </a:extLst>
          </p:cNvPr>
          <p:cNvGrpSpPr/>
          <p:nvPr/>
        </p:nvGrpSpPr>
        <p:grpSpPr>
          <a:xfrm>
            <a:off x="2460009" y="3737099"/>
            <a:ext cx="3383280" cy="2011520"/>
            <a:chOff x="2460009" y="3737099"/>
            <a:chExt cx="3383280" cy="201152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D93EDA7-CD35-C662-CC6C-4145492A98B8}"/>
                </a:ext>
              </a:extLst>
            </p:cNvPr>
            <p:cNvGrpSpPr/>
            <p:nvPr/>
          </p:nvGrpSpPr>
          <p:grpSpPr>
            <a:xfrm>
              <a:off x="2460009" y="3828380"/>
              <a:ext cx="3383280" cy="1920239"/>
              <a:chOff x="1819929" y="3985147"/>
              <a:chExt cx="3383280" cy="1920239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1819929" y="3985147"/>
                <a:ext cx="640080" cy="64008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 V</a:t>
                </a:r>
                <a:endParaRPr dirty="0"/>
              </a:p>
            </p:txBody>
          </p:sp>
          <p:sp>
            <p:nvSpPr>
              <p:cNvPr id="5" name="Oval 4"/>
              <p:cNvSpPr/>
              <p:nvPr/>
            </p:nvSpPr>
            <p:spPr>
              <a:xfrm>
                <a:off x="4563129" y="3985147"/>
                <a:ext cx="640080" cy="64008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 V</a:t>
                </a:r>
                <a:endParaRPr dirty="0"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3143933" y="5265306"/>
                <a:ext cx="640080" cy="64008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 V</a:t>
                </a:r>
                <a:endParaRPr dirty="0"/>
              </a:p>
            </p:txBody>
          </p:sp>
          <p:cxnSp>
            <p:nvCxnSpPr>
              <p:cNvPr id="7" name="Connector 5">
                <a:extLst>
                  <a:ext uri="{FF2B5EF4-FFF2-40B4-BE49-F238E27FC236}">
                    <a16:creationId xmlns:a16="http://schemas.microsoft.com/office/drawing/2014/main" id="{BAFB3B7F-777A-BF95-532B-E4A1CEA6920B}"/>
                  </a:ext>
                </a:extLst>
              </p:cNvPr>
              <p:cNvCxnSpPr/>
              <p:nvPr/>
            </p:nvCxnSpPr>
            <p:spPr>
              <a:xfrm>
                <a:off x="2460009" y="4305187"/>
                <a:ext cx="210312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nector 5">
                <a:extLst>
                  <a:ext uri="{FF2B5EF4-FFF2-40B4-BE49-F238E27FC236}">
                    <a16:creationId xmlns:a16="http://schemas.microsoft.com/office/drawing/2014/main" id="{70A21C3E-7092-27B4-8348-451537748EB6}"/>
                  </a:ext>
                </a:extLst>
              </p:cNvPr>
              <p:cNvCxnSpPr>
                <a:cxnSpLocks/>
                <a:endCxn id="6" idx="1"/>
              </p:cNvCxnSpPr>
              <p:nvPr/>
            </p:nvCxnSpPr>
            <p:spPr>
              <a:xfrm>
                <a:off x="2230557" y="4503763"/>
                <a:ext cx="1007114" cy="85528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ctor 5">
                <a:extLst>
                  <a:ext uri="{FF2B5EF4-FFF2-40B4-BE49-F238E27FC236}">
                    <a16:creationId xmlns:a16="http://schemas.microsoft.com/office/drawing/2014/main" id="{43C358D8-F601-ADF2-B4DC-E59CB9DCC0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4013" y="4625227"/>
                <a:ext cx="969019" cy="76154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4E5423D-2145-1D51-0F73-DCBFE8FDE947}"/>
                </a:ext>
              </a:extLst>
            </p:cNvPr>
            <p:cNvSpPr/>
            <p:nvPr/>
          </p:nvSpPr>
          <p:spPr>
            <a:xfrm>
              <a:off x="3533585" y="3737099"/>
              <a:ext cx="1140935" cy="51861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Edge</a:t>
              </a:r>
              <a:endParaRPr lang="en-GB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Directed Graph (Real-life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Example: Instagram/Twitter Follow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If A follows B, it doesn't mean B follows 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B6EB336-4391-C6C4-7F22-4B5D09E4948D}"/>
              </a:ext>
            </a:extLst>
          </p:cNvPr>
          <p:cNvGrpSpPr/>
          <p:nvPr/>
        </p:nvGrpSpPr>
        <p:grpSpPr>
          <a:xfrm>
            <a:off x="2743200" y="3147356"/>
            <a:ext cx="3383280" cy="640080"/>
            <a:chOff x="2743200" y="2743200"/>
            <a:chExt cx="3383280" cy="640080"/>
          </a:xfrm>
        </p:grpSpPr>
        <p:sp>
          <p:nvSpPr>
            <p:cNvPr id="4" name="Oval 3"/>
            <p:cNvSpPr/>
            <p:nvPr/>
          </p:nvSpPr>
          <p:spPr>
            <a:xfrm>
              <a:off x="2743200" y="2743200"/>
              <a:ext cx="640080" cy="64008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486400" y="2743200"/>
              <a:ext cx="640080" cy="64008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2AD239-E231-759E-243D-238A6057A9CF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3383280" y="3467396"/>
            <a:ext cx="2103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Undirected Graph (Real-life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Example: Facebook friendship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If A is friend of B, B is friend of 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3B180C-44E3-0B48-DF5D-27F7EDC209BB}"/>
              </a:ext>
            </a:extLst>
          </p:cNvPr>
          <p:cNvGrpSpPr/>
          <p:nvPr/>
        </p:nvGrpSpPr>
        <p:grpSpPr>
          <a:xfrm>
            <a:off x="2498502" y="3429000"/>
            <a:ext cx="3383280" cy="640080"/>
            <a:chOff x="2743200" y="2743200"/>
            <a:chExt cx="3383280" cy="640080"/>
          </a:xfrm>
        </p:grpSpPr>
        <p:sp>
          <p:nvSpPr>
            <p:cNvPr id="4" name="Oval 3"/>
            <p:cNvSpPr/>
            <p:nvPr/>
          </p:nvSpPr>
          <p:spPr>
            <a:xfrm>
              <a:off x="2743200" y="2743200"/>
              <a:ext cx="640080" cy="64008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486400" y="2743200"/>
              <a:ext cx="640080" cy="64008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3383280" y="3063240"/>
              <a:ext cx="21031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Connected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dirty="0"/>
              <a:t>A graph is connected if every node can reach every other node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There exists at least one path between nodes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F90867-0CD5-AB77-1B6A-1C21D09D34AC}"/>
              </a:ext>
            </a:extLst>
          </p:cNvPr>
          <p:cNvGrpSpPr/>
          <p:nvPr/>
        </p:nvGrpSpPr>
        <p:grpSpPr>
          <a:xfrm>
            <a:off x="2877085" y="3429000"/>
            <a:ext cx="3389830" cy="2011520"/>
            <a:chOff x="2453459" y="3737099"/>
            <a:chExt cx="3389830" cy="201152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0518561-06F8-9469-7EC6-F9BDB9F23F85}"/>
                </a:ext>
              </a:extLst>
            </p:cNvPr>
            <p:cNvGrpSpPr/>
            <p:nvPr/>
          </p:nvGrpSpPr>
          <p:grpSpPr>
            <a:xfrm>
              <a:off x="2460009" y="3828380"/>
              <a:ext cx="3383280" cy="1920239"/>
              <a:chOff x="1819929" y="3985147"/>
              <a:chExt cx="3383280" cy="1920239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B96D5F5-0082-A4F6-D8CC-EC855E810D3C}"/>
                  </a:ext>
                </a:extLst>
              </p:cNvPr>
              <p:cNvSpPr/>
              <p:nvPr/>
            </p:nvSpPr>
            <p:spPr>
              <a:xfrm>
                <a:off x="1819929" y="3985147"/>
                <a:ext cx="640080" cy="64008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V1</a:t>
                </a:r>
                <a:endParaRPr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5D6BD81-702F-E5A1-E28C-0633457B6185}"/>
                  </a:ext>
                </a:extLst>
              </p:cNvPr>
              <p:cNvSpPr/>
              <p:nvPr/>
            </p:nvSpPr>
            <p:spPr>
              <a:xfrm>
                <a:off x="4563129" y="3985147"/>
                <a:ext cx="640080" cy="64008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V2</a:t>
                </a:r>
                <a:endParaRPr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8EAF1AD2-DC72-1CC7-0261-0B0C93A4B064}"/>
                  </a:ext>
                </a:extLst>
              </p:cNvPr>
              <p:cNvSpPr/>
              <p:nvPr/>
            </p:nvSpPr>
            <p:spPr>
              <a:xfrm>
                <a:off x="3143933" y="5265306"/>
                <a:ext cx="640080" cy="64008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V3</a:t>
                </a:r>
                <a:endParaRPr dirty="0"/>
              </a:p>
            </p:txBody>
          </p:sp>
          <p:cxnSp>
            <p:nvCxnSpPr>
              <p:cNvPr id="17" name="Connector 5">
                <a:extLst>
                  <a:ext uri="{FF2B5EF4-FFF2-40B4-BE49-F238E27FC236}">
                    <a16:creationId xmlns:a16="http://schemas.microsoft.com/office/drawing/2014/main" id="{FDBF4244-64FC-0665-0EA8-0D8702E8943A}"/>
                  </a:ext>
                </a:extLst>
              </p:cNvPr>
              <p:cNvCxnSpPr/>
              <p:nvPr/>
            </p:nvCxnSpPr>
            <p:spPr>
              <a:xfrm>
                <a:off x="2460009" y="4305187"/>
                <a:ext cx="210312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 5">
                <a:extLst>
                  <a:ext uri="{FF2B5EF4-FFF2-40B4-BE49-F238E27FC236}">
                    <a16:creationId xmlns:a16="http://schemas.microsoft.com/office/drawing/2014/main" id="{538D37C9-49F1-053E-931A-68B33EE340C5}"/>
                  </a:ext>
                </a:extLst>
              </p:cNvPr>
              <p:cNvCxnSpPr>
                <a:cxnSpLocks/>
                <a:stCxn id="14" idx="5"/>
                <a:endCxn id="16" idx="1"/>
              </p:cNvCxnSpPr>
              <p:nvPr/>
            </p:nvCxnSpPr>
            <p:spPr>
              <a:xfrm>
                <a:off x="2366271" y="4531489"/>
                <a:ext cx="871400" cy="82755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or 5">
                <a:extLst>
                  <a:ext uri="{FF2B5EF4-FFF2-40B4-BE49-F238E27FC236}">
                    <a16:creationId xmlns:a16="http://schemas.microsoft.com/office/drawing/2014/main" id="{3E908545-8BB2-9FD9-0907-D95E9ADE69B6}"/>
                  </a:ext>
                </a:extLst>
              </p:cNvPr>
              <p:cNvCxnSpPr>
                <a:cxnSpLocks/>
                <a:stCxn id="16" idx="7"/>
                <a:endCxn id="15" idx="3"/>
              </p:cNvCxnSpPr>
              <p:nvPr/>
            </p:nvCxnSpPr>
            <p:spPr>
              <a:xfrm flipV="1">
                <a:off x="3690275" y="4531489"/>
                <a:ext cx="966592" cy="82755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99BB05-32F2-3964-19EE-6D85B81596C1}"/>
                </a:ext>
              </a:extLst>
            </p:cNvPr>
            <p:cNvSpPr/>
            <p:nvPr/>
          </p:nvSpPr>
          <p:spPr>
            <a:xfrm>
              <a:off x="3533585" y="3737099"/>
              <a:ext cx="1140935" cy="51861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Edge1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CD4814-A0FC-6F3C-8BD0-535E563A2974}"/>
                </a:ext>
              </a:extLst>
            </p:cNvPr>
            <p:cNvSpPr/>
            <p:nvPr/>
          </p:nvSpPr>
          <p:spPr>
            <a:xfrm>
              <a:off x="2453459" y="4651022"/>
              <a:ext cx="1140935" cy="51861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Edge3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A63529E-FC52-B60D-41AB-991D042716EB}"/>
                </a:ext>
              </a:extLst>
            </p:cNvPr>
            <p:cNvSpPr/>
            <p:nvPr/>
          </p:nvSpPr>
          <p:spPr>
            <a:xfrm>
              <a:off x="4590803" y="4673600"/>
              <a:ext cx="1140935" cy="51861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Edge2</a:t>
              </a:r>
              <a:endParaRPr lang="en-GB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Fully Connected Graph (Complete Graph)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Every pair of nodes has a direct edge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5C62CF2-63BD-8C53-10F4-00D6D358F542}"/>
              </a:ext>
            </a:extLst>
          </p:cNvPr>
          <p:cNvGrpSpPr/>
          <p:nvPr/>
        </p:nvGrpSpPr>
        <p:grpSpPr>
          <a:xfrm>
            <a:off x="2606462" y="2872597"/>
            <a:ext cx="3389830" cy="2011520"/>
            <a:chOff x="2453459" y="3737099"/>
            <a:chExt cx="3389830" cy="201152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2C46D93-1466-C20C-4EE6-E3EA078D29D4}"/>
                </a:ext>
              </a:extLst>
            </p:cNvPr>
            <p:cNvGrpSpPr/>
            <p:nvPr/>
          </p:nvGrpSpPr>
          <p:grpSpPr>
            <a:xfrm>
              <a:off x="2460009" y="3828380"/>
              <a:ext cx="3383280" cy="1920239"/>
              <a:chOff x="1819929" y="3985147"/>
              <a:chExt cx="3383280" cy="1920239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E328FE7-C672-331A-A551-630816BC5FB6}"/>
                  </a:ext>
                </a:extLst>
              </p:cNvPr>
              <p:cNvSpPr/>
              <p:nvPr/>
            </p:nvSpPr>
            <p:spPr>
              <a:xfrm>
                <a:off x="1819929" y="3985147"/>
                <a:ext cx="640080" cy="64008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V1</a:t>
                </a:r>
                <a:endParaRPr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BC8C228-0210-10BF-3EEF-E0D318E6E96E}"/>
                  </a:ext>
                </a:extLst>
              </p:cNvPr>
              <p:cNvSpPr/>
              <p:nvPr/>
            </p:nvSpPr>
            <p:spPr>
              <a:xfrm>
                <a:off x="4563129" y="3985147"/>
                <a:ext cx="640080" cy="64008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V2</a:t>
                </a:r>
                <a:endParaRPr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61E27E2-A417-17A7-5FD0-8FC6682A0DFC}"/>
                  </a:ext>
                </a:extLst>
              </p:cNvPr>
              <p:cNvSpPr/>
              <p:nvPr/>
            </p:nvSpPr>
            <p:spPr>
              <a:xfrm>
                <a:off x="3143933" y="5265306"/>
                <a:ext cx="640080" cy="64008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V3</a:t>
                </a:r>
                <a:endParaRPr dirty="0"/>
              </a:p>
            </p:txBody>
          </p:sp>
          <p:cxnSp>
            <p:nvCxnSpPr>
              <p:cNvPr id="18" name="Connector 5">
                <a:extLst>
                  <a:ext uri="{FF2B5EF4-FFF2-40B4-BE49-F238E27FC236}">
                    <a16:creationId xmlns:a16="http://schemas.microsoft.com/office/drawing/2014/main" id="{E9E2295A-8711-DE5C-023C-C17299EFE47F}"/>
                  </a:ext>
                </a:extLst>
              </p:cNvPr>
              <p:cNvCxnSpPr/>
              <p:nvPr/>
            </p:nvCxnSpPr>
            <p:spPr>
              <a:xfrm>
                <a:off x="2460009" y="4305187"/>
                <a:ext cx="210312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or 5">
                <a:extLst>
                  <a:ext uri="{FF2B5EF4-FFF2-40B4-BE49-F238E27FC236}">
                    <a16:creationId xmlns:a16="http://schemas.microsoft.com/office/drawing/2014/main" id="{97B3900F-8742-CE81-98A5-A0AFB72AD1FC}"/>
                  </a:ext>
                </a:extLst>
              </p:cNvPr>
              <p:cNvCxnSpPr>
                <a:cxnSpLocks/>
                <a:stCxn id="15" idx="5"/>
                <a:endCxn id="17" idx="1"/>
              </p:cNvCxnSpPr>
              <p:nvPr/>
            </p:nvCxnSpPr>
            <p:spPr>
              <a:xfrm>
                <a:off x="2366271" y="4531489"/>
                <a:ext cx="871400" cy="82755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or 5">
                <a:extLst>
                  <a:ext uri="{FF2B5EF4-FFF2-40B4-BE49-F238E27FC236}">
                    <a16:creationId xmlns:a16="http://schemas.microsoft.com/office/drawing/2014/main" id="{3AEF4190-E9DF-CE3C-CC91-13DDFEA1F942}"/>
                  </a:ext>
                </a:extLst>
              </p:cNvPr>
              <p:cNvCxnSpPr>
                <a:cxnSpLocks/>
                <a:stCxn id="17" idx="7"/>
                <a:endCxn id="16" idx="3"/>
              </p:cNvCxnSpPr>
              <p:nvPr/>
            </p:nvCxnSpPr>
            <p:spPr>
              <a:xfrm flipV="1">
                <a:off x="3690275" y="4531489"/>
                <a:ext cx="966592" cy="82755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11AF48-83F6-EF22-A056-DEF700A43EF5}"/>
                </a:ext>
              </a:extLst>
            </p:cNvPr>
            <p:cNvSpPr/>
            <p:nvPr/>
          </p:nvSpPr>
          <p:spPr>
            <a:xfrm>
              <a:off x="3533585" y="3737099"/>
              <a:ext cx="1140935" cy="51861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Edge1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D91B68-0FEA-25E6-4979-09797518699F}"/>
                </a:ext>
              </a:extLst>
            </p:cNvPr>
            <p:cNvSpPr/>
            <p:nvPr/>
          </p:nvSpPr>
          <p:spPr>
            <a:xfrm>
              <a:off x="2453459" y="4651022"/>
              <a:ext cx="1140935" cy="51861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Edge3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89E24D-0A4B-FC7E-6C9F-BEAEF9192453}"/>
                </a:ext>
              </a:extLst>
            </p:cNvPr>
            <p:cNvSpPr/>
            <p:nvPr/>
          </p:nvSpPr>
          <p:spPr>
            <a:xfrm>
              <a:off x="4590803" y="4673600"/>
              <a:ext cx="1140935" cy="51861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Edge2</a:t>
              </a:r>
              <a:endParaRPr lang="en-GB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Is a Tree a Connected 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Yes. Trees are always connected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Every node can reach another node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Trees do not contain cycles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8C8A36-FB9E-7C23-1D97-8226441D2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110" y="3593721"/>
            <a:ext cx="3010320" cy="27150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What Makes a Tree Different from a 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dirty="0"/>
              <a:t>A Tree is a special graph: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Connected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No cycles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Edges = n − 1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Rooted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One node is selected as the root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Parent-child relationships exist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96AD32-913F-6211-B5C5-32D7B0CCF99F}"/>
              </a:ext>
            </a:extLst>
          </p:cNvPr>
          <p:cNvGrpSpPr/>
          <p:nvPr/>
        </p:nvGrpSpPr>
        <p:grpSpPr>
          <a:xfrm>
            <a:off x="2679449" y="3031365"/>
            <a:ext cx="2841724" cy="2023917"/>
            <a:chOff x="2679449" y="3031365"/>
            <a:chExt cx="2841724" cy="2023917"/>
          </a:xfrm>
        </p:grpSpPr>
        <p:sp>
          <p:nvSpPr>
            <p:cNvPr id="4" name="Oval 3"/>
            <p:cNvSpPr/>
            <p:nvPr/>
          </p:nvSpPr>
          <p:spPr>
            <a:xfrm>
              <a:off x="3622827" y="3031365"/>
              <a:ext cx="949173" cy="79527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Root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6376E7F-C599-F8A6-10AE-90CF7AFD3668}"/>
                </a:ext>
              </a:extLst>
            </p:cNvPr>
            <p:cNvSpPr/>
            <p:nvPr/>
          </p:nvSpPr>
          <p:spPr>
            <a:xfrm>
              <a:off x="4572000" y="4260012"/>
              <a:ext cx="949173" cy="79527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   C2</a:t>
              </a:r>
              <a:endParaRPr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130CD9B-5880-3AE4-AFFA-08DB6AA0AC95}"/>
                </a:ext>
              </a:extLst>
            </p:cNvPr>
            <p:cNvSpPr/>
            <p:nvPr/>
          </p:nvSpPr>
          <p:spPr>
            <a:xfrm>
              <a:off x="2679449" y="4260012"/>
              <a:ext cx="949173" cy="79527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  C1</a:t>
              </a:r>
              <a:endParaRPr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9FB9267-5D78-9E2E-829A-5DD61574957E}"/>
                </a:ext>
              </a:extLst>
            </p:cNvPr>
            <p:cNvCxnSpPr>
              <a:stCxn id="6" idx="0"/>
              <a:endCxn id="4" idx="3"/>
            </p:cNvCxnSpPr>
            <p:nvPr/>
          </p:nvCxnSpPr>
          <p:spPr>
            <a:xfrm flipV="1">
              <a:off x="3154036" y="3710170"/>
              <a:ext cx="607794" cy="5498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BFAB411-DDAF-0C78-08BA-21596BFCD8E5}"/>
                </a:ext>
              </a:extLst>
            </p:cNvPr>
            <p:cNvCxnSpPr>
              <a:stCxn id="5" idx="0"/>
              <a:endCxn id="4" idx="5"/>
            </p:cNvCxnSpPr>
            <p:nvPr/>
          </p:nvCxnSpPr>
          <p:spPr>
            <a:xfrm flipH="1" flipV="1">
              <a:off x="4432997" y="3710170"/>
              <a:ext cx="613590" cy="5498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b="1" dirty="0"/>
              <a:t>Leaf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A node with no children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Located at the bottom of a tree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6E5C183-D0EC-BBBB-3916-DB9C3D8ACA56}"/>
              </a:ext>
            </a:extLst>
          </p:cNvPr>
          <p:cNvGrpSpPr/>
          <p:nvPr/>
        </p:nvGrpSpPr>
        <p:grpSpPr>
          <a:xfrm>
            <a:off x="2524902" y="3299332"/>
            <a:ext cx="2841724" cy="2023917"/>
            <a:chOff x="2679449" y="3031365"/>
            <a:chExt cx="2841724" cy="202391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C8C7931-D4E8-6D54-95F4-F4743A63D96C}"/>
                </a:ext>
              </a:extLst>
            </p:cNvPr>
            <p:cNvSpPr/>
            <p:nvPr/>
          </p:nvSpPr>
          <p:spPr>
            <a:xfrm>
              <a:off x="3622827" y="3031365"/>
              <a:ext cx="949173" cy="79527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dirty="0"/>
                <a:t>Root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BEC4CDC-15DE-0E75-0DD1-776B63501C13}"/>
                </a:ext>
              </a:extLst>
            </p:cNvPr>
            <p:cNvSpPr/>
            <p:nvPr/>
          </p:nvSpPr>
          <p:spPr>
            <a:xfrm>
              <a:off x="4572000" y="4260012"/>
              <a:ext cx="949173" cy="79527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 Leaf</a:t>
              </a:r>
              <a:endParaRPr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5395C3E-A366-27A5-E7CE-F8D7A4CD15DD}"/>
                </a:ext>
              </a:extLst>
            </p:cNvPr>
            <p:cNvSpPr/>
            <p:nvPr/>
          </p:nvSpPr>
          <p:spPr>
            <a:xfrm>
              <a:off x="2679449" y="4260012"/>
              <a:ext cx="949173" cy="79527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Leaf</a:t>
              </a:r>
              <a:endParaRPr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E8BDCC7-2DF2-3433-2C1E-B195D9B8BF7E}"/>
                </a:ext>
              </a:extLst>
            </p:cNvPr>
            <p:cNvCxnSpPr>
              <a:stCxn id="10" idx="0"/>
              <a:endCxn id="8" idx="3"/>
            </p:cNvCxnSpPr>
            <p:nvPr/>
          </p:nvCxnSpPr>
          <p:spPr>
            <a:xfrm flipV="1">
              <a:off x="3154036" y="3710170"/>
              <a:ext cx="607794" cy="5498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13789D3-74FE-ABB4-B8F7-6749A04B75EB}"/>
                </a:ext>
              </a:extLst>
            </p:cNvPr>
            <p:cNvCxnSpPr>
              <a:stCxn id="9" idx="0"/>
              <a:endCxn id="8" idx="5"/>
            </p:cNvCxnSpPr>
            <p:nvPr/>
          </p:nvCxnSpPr>
          <p:spPr>
            <a:xfrm flipH="1" flipV="1">
              <a:off x="4432997" y="3710170"/>
              <a:ext cx="613590" cy="5498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Number of Edges in a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If number of nodes = 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Edges = n − 1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Example: 5 nodes → 4 edges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Simple Paths Between Two Nodes in a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There is exactly ONE simple path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Because trees do not contain cycles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Weighted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Edges have weights (cost, distance, time)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Example: Distance between cities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2A64304-4696-D4A9-49C2-B767DA361210}"/>
              </a:ext>
            </a:extLst>
          </p:cNvPr>
          <p:cNvGrpSpPr/>
          <p:nvPr/>
        </p:nvGrpSpPr>
        <p:grpSpPr>
          <a:xfrm>
            <a:off x="2524259" y="3172183"/>
            <a:ext cx="3383280" cy="714017"/>
            <a:chOff x="2743200" y="2669263"/>
            <a:chExt cx="3383280" cy="714017"/>
          </a:xfrm>
        </p:grpSpPr>
        <p:cxnSp>
          <p:nvCxnSpPr>
            <p:cNvPr id="6" name="Connector 5"/>
            <p:cNvCxnSpPr/>
            <p:nvPr/>
          </p:nvCxnSpPr>
          <p:spPr>
            <a:xfrm>
              <a:off x="3383280" y="3063240"/>
              <a:ext cx="21031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C4809F0-2339-926D-0A06-14D8A5E30E06}"/>
                </a:ext>
              </a:extLst>
            </p:cNvPr>
            <p:cNvGrpSpPr/>
            <p:nvPr/>
          </p:nvGrpSpPr>
          <p:grpSpPr>
            <a:xfrm>
              <a:off x="2743200" y="2669263"/>
              <a:ext cx="3383280" cy="714017"/>
              <a:chOff x="2743200" y="2669263"/>
              <a:chExt cx="3383280" cy="714017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2743200" y="2743200"/>
                <a:ext cx="640080" cy="64008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A</a:t>
                </a:r>
              </a:p>
            </p:txBody>
          </p:sp>
          <p:sp>
            <p:nvSpPr>
              <p:cNvPr id="5" name="Oval 4"/>
              <p:cNvSpPr/>
              <p:nvPr/>
            </p:nvSpPr>
            <p:spPr>
              <a:xfrm>
                <a:off x="5486400" y="2743200"/>
                <a:ext cx="640080" cy="64008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dirty="0"/>
                  <a:t>B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114800" y="2669263"/>
                <a:ext cx="301686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b="1" dirty="0"/>
                  <a:t>5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276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Components of a Graph</vt:lpstr>
      <vt:lpstr>Directed Graph (Real-life Example)</vt:lpstr>
      <vt:lpstr>Undirected Graph (Real-life Example)</vt:lpstr>
      <vt:lpstr>Connected Graph</vt:lpstr>
      <vt:lpstr>Fully Connected Graph (Complete Graph)</vt:lpstr>
      <vt:lpstr>Is a Tree a Connected Graph?</vt:lpstr>
      <vt:lpstr>What Makes a Tree Different from a Graph?</vt:lpstr>
      <vt:lpstr>Rooted Tree</vt:lpstr>
      <vt:lpstr> Leaf Node</vt:lpstr>
      <vt:lpstr>Number of Edges in a Tree</vt:lpstr>
      <vt:lpstr>Simple Paths Between Two Nodes in a Tree</vt:lpstr>
      <vt:lpstr>Weighted Graph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Shihan</dc:creator>
  <cp:keywords/>
  <dc:description>generated using python-pptx</dc:description>
  <cp:lastModifiedBy>Mahmudul Hasan Shihan</cp:lastModifiedBy>
  <cp:revision>3</cp:revision>
  <dcterms:created xsi:type="dcterms:W3CDTF">2013-01-27T09:14:16Z</dcterms:created>
  <dcterms:modified xsi:type="dcterms:W3CDTF">2026-03-14T23:53:28Z</dcterms:modified>
  <cp:category/>
</cp:coreProperties>
</file>